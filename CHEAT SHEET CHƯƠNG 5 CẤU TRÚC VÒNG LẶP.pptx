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6236" autoAdjust="0"/>
  </p:normalViewPr>
  <p:slideViewPr>
    <p:cSldViewPr snapToGrid="0">
      <p:cViewPr>
        <p:scale>
          <a:sx n="200" d="100"/>
          <a:sy n="200" d="100"/>
        </p:scale>
        <p:origin x="-5592" y="-2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9A39-F40D-8DB3-6E0F-8A71B2ED5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78942-9D28-6C63-6092-9B96FB487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96A72-5718-4218-7D6B-B3A873E7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F0442-A0ED-CE89-2490-73421735B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6C073-E9E8-2D3B-2FA4-DA7BF50E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7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1A0B0-586D-38DB-3D7C-E81520E8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D657-4019-52A8-0678-A75814F26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B1B4-78E4-95E4-1A48-99FCCEBB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4053B-645C-8035-5BA0-CC28798F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42B95-9660-F41C-3552-04CD34C9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013C-A972-03D3-FCA4-77FE6E81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B759E-D9F0-6F7E-229C-A05BB6E74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7EC15-4AA1-987D-6654-0CE73D7F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E300-F939-9B39-8AF6-0FB703DF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5191-E8CD-5F66-BA96-AEF69E59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9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1CCF-CC56-9A75-1F3D-B1A17729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8541B-92BE-D52E-7CA5-4E53A9E89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CE060-7E88-4672-55E2-84375FFD7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7D46A-84C9-FF86-CE53-DEAEFE49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ABB44-A45F-E6AF-0E4C-F95E242D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9CE2A-CA90-71D9-D797-6732E458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2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BBD2A-5977-605A-3421-BED5EC52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18DED-4FB5-9834-0025-0741FAB2B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52297-56F2-4924-FE15-EF8EEC28F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9AE4E-5739-3243-30DE-6BFD5C8F4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ED533A-A450-B7B3-E6EE-77E91C8AD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25ED0-B4D2-A371-1CF7-9039BFB55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D0B86-616E-E8E6-55B2-F714FDA7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2E3ED-A5B2-3AA1-CE79-27508401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1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0FE4-E02B-DD21-666A-5008C8FD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63E0E-99EB-939A-A1AD-A3E6D971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C9EB3-4644-314C-C753-EBE79CDC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DB3A0-5C54-649F-E7F5-03B4152C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5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FFF43-F610-DE83-2E49-C9B5EAC87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2695A-FE55-E58D-5DF8-031DD2D7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5AA65-F30D-DB2E-C41B-82C3F3EA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8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BE48-9796-5A73-BC73-98D1B29C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7E3E8-DEB0-AB5C-6CDF-6A70598F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83FF-E8BD-AF52-88E9-E3C23214B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B0B64-883C-AE76-3FF0-D9EE4254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41812-31C3-76F3-DD7E-4A19CD71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517C4-5C19-11F1-851B-D6BF90BD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2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CBEE-009E-19E2-5AB2-A9277CA6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3507E-3DD9-151D-F0B3-9B7768F0E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2A483-30BE-F31A-5E50-EF9B08547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276E5-7C9C-A444-7A08-A1EAFED1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59F3-1F31-3C0D-7B4E-76D78F39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89056-60DE-EBB6-F5E6-83F55D01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3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5091-35FC-BC69-5DF8-509CF8B43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80190-C58B-FDE3-F422-C809F91C2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056F5-8BB5-AE9A-87C7-DFACDA448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1C9CD-7326-A92C-6B07-250B83E38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DF676-3200-5FBC-19BB-1B7A54BE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1DD5B-82BB-CF11-B3F6-80EC9C012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39596D-CDBF-9087-0CAF-1BD8B88C1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C56FB-CEF2-A948-901D-861DA83F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DB867-C28B-4195-A79C-98F829AB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4821-3247-7AE1-DC8F-DE410DD9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5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BE9EF-0035-A282-DC06-53F11406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22948-7BE3-0F46-68DB-41213780C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8A53D-D475-19A6-68CF-83F3197B7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C999C-5513-4803-B0C4-3B05AAFF0C2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C77DC-B04B-D5D7-E439-10952D033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E22AD-BD6B-F4D1-2366-BB5F751F4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E8A55-25EF-4CC9-995E-10C985B16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7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104F187-3C16-04E1-609D-E82BEFB98C95}"/>
              </a:ext>
            </a:extLst>
          </p:cNvPr>
          <p:cNvSpPr/>
          <p:nvPr/>
        </p:nvSpPr>
        <p:spPr>
          <a:xfrm>
            <a:off x="3606709" y="447620"/>
            <a:ext cx="8518757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5E3C1E-D755-9D09-0C9B-89881CC3684D}"/>
              </a:ext>
            </a:extLst>
          </p:cNvPr>
          <p:cNvSpPr/>
          <p:nvPr/>
        </p:nvSpPr>
        <p:spPr>
          <a:xfrm>
            <a:off x="6098124" y="482299"/>
            <a:ext cx="3534818" cy="26409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8D89D7-81B8-9817-1C90-369952D0A828}"/>
              </a:ext>
            </a:extLst>
          </p:cNvPr>
          <p:cNvSpPr/>
          <p:nvPr/>
        </p:nvSpPr>
        <p:spPr>
          <a:xfrm>
            <a:off x="8762660" y="3663837"/>
            <a:ext cx="3361426" cy="31700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462561-5C2C-62CB-10FA-FF6CA16C0000}"/>
              </a:ext>
            </a:extLst>
          </p:cNvPr>
          <p:cNvSpPr/>
          <p:nvPr/>
        </p:nvSpPr>
        <p:spPr>
          <a:xfrm>
            <a:off x="5409631" y="3665542"/>
            <a:ext cx="3279764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0D287C-1E84-6A8D-A27B-720967520AD3}"/>
              </a:ext>
            </a:extLst>
          </p:cNvPr>
          <p:cNvSpPr/>
          <p:nvPr/>
        </p:nvSpPr>
        <p:spPr>
          <a:xfrm>
            <a:off x="9189444" y="3700355"/>
            <a:ext cx="2692400" cy="23820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A9ABFC-2CE5-12F6-8A44-996B215DF4BD}"/>
              </a:ext>
            </a:extLst>
          </p:cNvPr>
          <p:cNvSpPr/>
          <p:nvPr/>
        </p:nvSpPr>
        <p:spPr>
          <a:xfrm>
            <a:off x="5768483" y="3710947"/>
            <a:ext cx="2692400" cy="23820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9C822-3A50-ED03-729F-2A00181E98B9}"/>
              </a:ext>
            </a:extLst>
          </p:cNvPr>
          <p:cNvSpPr/>
          <p:nvPr/>
        </p:nvSpPr>
        <p:spPr>
          <a:xfrm>
            <a:off x="67914" y="3665542"/>
            <a:ext cx="5277206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9810B4-9831-5F4C-61EA-9B89DCB6CCF5}"/>
              </a:ext>
            </a:extLst>
          </p:cNvPr>
          <p:cNvSpPr/>
          <p:nvPr/>
        </p:nvSpPr>
        <p:spPr>
          <a:xfrm>
            <a:off x="1222271" y="3716214"/>
            <a:ext cx="2854867" cy="23293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2A0B7C-3570-0D19-C483-3C7D70D75CC0}"/>
              </a:ext>
            </a:extLst>
          </p:cNvPr>
          <p:cNvSpPr/>
          <p:nvPr/>
        </p:nvSpPr>
        <p:spPr>
          <a:xfrm>
            <a:off x="80263" y="447620"/>
            <a:ext cx="3472233" cy="31710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864F3B-65C8-EA75-7788-082C01D082FB}"/>
              </a:ext>
            </a:extLst>
          </p:cNvPr>
          <p:cNvSpPr/>
          <p:nvPr/>
        </p:nvSpPr>
        <p:spPr>
          <a:xfrm>
            <a:off x="182509" y="477885"/>
            <a:ext cx="3267740" cy="25069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D92547-2418-EA4A-8097-14F20DE61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660" y="-90518"/>
            <a:ext cx="9144000" cy="52644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CHEAT SHEET CHƯƠNG 5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VÒNG LẶP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AB55067-B56A-1A65-90BB-F9375152C0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3598" y="434794"/>
            <a:ext cx="3390865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Vòng lặp while (Vòng lặp không xác định)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724481C-6EE3-75B2-FFDE-9D85F6F23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3" y="658618"/>
            <a:ext cx="3472233" cy="297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Vòng lặp while tiếp tục chạy miễn là điều kiện logic vẫn là True.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Cấu trúc cơ bản: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= 5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n &gt; 0: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 = n - 1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print('Blastoff!’)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Vòng lặp vô hạn (Infinite Loops):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Xảy ra khi điều kiện không bao giờ trở thành False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Ví dụ lỗi: n không bao giờ thay đổi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 = 5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n &gt; 0: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print('Lather’)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print('Rinse')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CC5E81-69CB-6FCB-2BB4-B9F7C9053C45}"/>
              </a:ext>
            </a:extLst>
          </p:cNvPr>
          <p:cNvCxnSpPr/>
          <p:nvPr/>
        </p:nvCxnSpPr>
        <p:spPr>
          <a:xfrm>
            <a:off x="0" y="379590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3">
            <a:extLst>
              <a:ext uri="{FF2B5EF4-FFF2-40B4-BE49-F238E27FC236}">
                <a16:creationId xmlns:a16="http://schemas.microsoft.com/office/drawing/2014/main" id="{8F9B7953-6F78-C718-8DE9-BA3459802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4" y="3895127"/>
            <a:ext cx="527720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break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Kết thúc vòng lặp </a:t>
            </a: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ngay lập tức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và nhảy đến câu lệnh sau vòng lặp.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True: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line = input('&gt; ‘)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if line == 'done’: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break # Thoát khỏi vòng lặp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print(line)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continue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Kết thúc </a:t>
            </a: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vòng lặp hiện tại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(bỏ qua các lệnh bên dưới nó trong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khối lặp) và quay lại đầu vòng lặp để bắt đầu lần lặp tiếp theo.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True: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line = input('&gt; ‘)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if line[0] == '#’: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continue # Bỏ qua phần còn lại, quay lại đầu vòng lặp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if line == 'done’: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  b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print(line)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583160-04FB-940C-E5E3-79730EE6925F}"/>
              </a:ext>
            </a:extLst>
          </p:cNvPr>
          <p:cNvSpPr txBox="1"/>
          <p:nvPr/>
        </p:nvSpPr>
        <p:spPr>
          <a:xfrm>
            <a:off x="1345086" y="3687461"/>
            <a:ext cx="27442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Các lệnh điều khiển vòng lặp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027FD7D3-F9CD-461A-7FB6-EDEC039E5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238" y="4183667"/>
            <a:ext cx="2990549" cy="259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 để lặp qua một tập hợp các phần tử (như danh sách, chuỗi) một số lần xác định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Cấu trúc cơ bản: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 in [5, 4, 3, 2, 1]: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print(i)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Biến lặp (Iteration variable):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Biến i (hoặc tên khác) sẽ lần lượt nhận giá trị của từng phần tử trong danh sách qua mỗi lần lặp.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0CB08D-48C2-1A1B-992F-CC11C7F30366}"/>
              </a:ext>
            </a:extLst>
          </p:cNvPr>
          <p:cNvSpPr txBox="1"/>
          <p:nvPr/>
        </p:nvSpPr>
        <p:spPr>
          <a:xfrm>
            <a:off x="5768483" y="3670400"/>
            <a:ext cx="285038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Vòng lặp for (Vòng lặp xác định)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180D48AE-69C8-0286-526F-003FE63CB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5306" y="4174192"/>
            <a:ext cx="3166308" cy="2593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None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Một giá trị đặc biệt trong Python biểu thị sự "không có giá trị" hoặc rỗng. Thường dùng để khởi tạo biến tìm min/max.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is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Toán tử logic, mạnh hơn ==. Nó kiểm tra xem hai biến có phải là </a:t>
            </a: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cùng một đối tượng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hay không (implies "is the same as") 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 if x is None: (Chuẩn Python).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 nên dùng is cho số hoặc chuỗi, chỉ dùng cho True/False/None.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is not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Phủ định của 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5BCDD-3BE1-A282-B99F-DD508896C60D}"/>
              </a:ext>
            </a:extLst>
          </p:cNvPr>
          <p:cNvSpPr txBox="1"/>
          <p:nvPr/>
        </p:nvSpPr>
        <p:spPr>
          <a:xfrm>
            <a:off x="9473863" y="3668373"/>
            <a:ext cx="222581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Toán tử is và giá trị None</a:t>
            </a: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6F80847F-E9C6-F96C-4DFC-CB83AFD8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4476" y="1987422"/>
            <a:ext cx="356219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Tìm giá trị nhỏ nhất (Minimum):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smallest = None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value in [9, 41, 12]: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if smallest is None: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smallest = value # Lấy giá trị đầu tiên làm mốc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elif value &lt; smallest: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smallest = value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print('Smallest:', smallest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AF3AF-3B7E-60A8-A77E-A86B20E5B47D}"/>
              </a:ext>
            </a:extLst>
          </p:cNvPr>
          <p:cNvSpPr txBox="1"/>
          <p:nvPr/>
        </p:nvSpPr>
        <p:spPr>
          <a:xfrm>
            <a:off x="6134880" y="459678"/>
            <a:ext cx="74326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Các mẫu vòng lặp phổ biến (Loop Idioms)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A3222B-41A1-12B3-107D-A9DA30959940}"/>
              </a:ext>
            </a:extLst>
          </p:cNvPr>
          <p:cNvSpPr txBox="1"/>
          <p:nvPr/>
        </p:nvSpPr>
        <p:spPr>
          <a:xfrm>
            <a:off x="8544737" y="779402"/>
            <a:ext cx="180719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Đếm (Counting):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= 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thing in [9, 41, 12]: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count = count + 1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print('Count:', count) </a:t>
            </a:r>
            <a:endParaRPr lang="en-US" sz="125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C65CCA-8BF9-1736-B0BC-3632D4E03E4C}"/>
              </a:ext>
            </a:extLst>
          </p:cNvPr>
          <p:cNvSpPr txBox="1"/>
          <p:nvPr/>
        </p:nvSpPr>
        <p:spPr>
          <a:xfrm>
            <a:off x="10459903" y="762143"/>
            <a:ext cx="1807195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 tổng (Summing):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= 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thing in [9, 41, 12]: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total = total + thing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print('Total:', total)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889D60-71CF-F9D8-BCD4-47B13C6BDFF4}"/>
              </a:ext>
            </a:extLst>
          </p:cNvPr>
          <p:cNvSpPr txBox="1"/>
          <p:nvPr/>
        </p:nvSpPr>
        <p:spPr>
          <a:xfrm>
            <a:off x="5972288" y="2006425"/>
            <a:ext cx="229163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 trung bình (Average):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Kết hợp đếm và tính tổng.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 ... code đếm và tổng ...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print('Average:', total / count)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BE231C-9465-050D-3AFD-D7997AF9BB76}"/>
              </a:ext>
            </a:extLst>
          </p:cNvPr>
          <p:cNvSpPr txBox="1"/>
          <p:nvPr/>
        </p:nvSpPr>
        <p:spPr>
          <a:xfrm>
            <a:off x="6032801" y="769600"/>
            <a:ext cx="2904608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Lọc (Filtering):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Dùng if để bắt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giá trị mong muốn.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value in [9, 41, 12]: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if value &gt; 20: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print('Large number', value)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70452D-5268-9931-E8CA-C9CD95FF864D}"/>
              </a:ext>
            </a:extLst>
          </p:cNvPr>
          <p:cNvSpPr txBox="1"/>
          <p:nvPr/>
        </p:nvSpPr>
        <p:spPr>
          <a:xfrm>
            <a:off x="3564981" y="1983301"/>
            <a:ext cx="2569899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Tìm kiếm (Search using Boolean):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 = False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value in [9, 41, 12]: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5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value == 3: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found = True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break # Có thể dừng khi tìm thấy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print('Found:', found) 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611A06-4CCB-C4D6-39A3-0351767520B0}"/>
              </a:ext>
            </a:extLst>
          </p:cNvPr>
          <p:cNvSpPr txBox="1"/>
          <p:nvPr/>
        </p:nvSpPr>
        <p:spPr>
          <a:xfrm>
            <a:off x="3548746" y="748875"/>
            <a:ext cx="256989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5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Tìm giá trị lớn nhất (Maximum):</a:t>
            </a:r>
            <a:endParaRPr kumimoji="0" lang="en-US" altLang="en-US" sz="12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largest_so_far = -1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the_num in [9, 41, 12]: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if the_num &gt; largest_so_far: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largest_so_far = the_num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print('Largest:', largest_so_far)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CD2EAEC-2B7E-D87B-B413-E47DE3C7C65A}"/>
              </a:ext>
            </a:extLst>
          </p:cNvPr>
          <p:cNvCxnSpPr>
            <a:cxnSpLocks/>
          </p:cNvCxnSpPr>
          <p:nvPr/>
        </p:nvCxnSpPr>
        <p:spPr>
          <a:xfrm flipV="1">
            <a:off x="3776133" y="1924861"/>
            <a:ext cx="8178800" cy="2407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C7FBB6-05DD-44E2-984F-777F083B3742}"/>
              </a:ext>
            </a:extLst>
          </p:cNvPr>
          <p:cNvCxnSpPr>
            <a:cxnSpLocks/>
          </p:cNvCxnSpPr>
          <p:nvPr/>
        </p:nvCxnSpPr>
        <p:spPr>
          <a:xfrm>
            <a:off x="5990592" y="1581365"/>
            <a:ext cx="0" cy="1390435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964AC2E-3E76-900B-D119-2E07955C7905}"/>
              </a:ext>
            </a:extLst>
          </p:cNvPr>
          <p:cNvCxnSpPr>
            <a:cxnSpLocks/>
          </p:cNvCxnSpPr>
          <p:nvPr/>
        </p:nvCxnSpPr>
        <p:spPr>
          <a:xfrm>
            <a:off x="8340571" y="1058333"/>
            <a:ext cx="0" cy="1278467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7CE2BE1-0B59-630D-AB34-E019606778D8}"/>
              </a:ext>
            </a:extLst>
          </p:cNvPr>
          <p:cNvCxnSpPr>
            <a:cxnSpLocks/>
          </p:cNvCxnSpPr>
          <p:nvPr/>
        </p:nvCxnSpPr>
        <p:spPr>
          <a:xfrm>
            <a:off x="10459903" y="1306469"/>
            <a:ext cx="3973" cy="74472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4" name="Graphic 63" descr="Checklist with solid fill">
            <a:extLst>
              <a:ext uri="{FF2B5EF4-FFF2-40B4-BE49-F238E27FC236}">
                <a16:creationId xmlns:a16="http://schemas.microsoft.com/office/drawing/2014/main" id="{40F0199D-7881-58AA-A2D8-66A0E5A95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2494" y="2702728"/>
            <a:ext cx="914400" cy="914400"/>
          </a:xfrm>
          <a:prstGeom prst="rect">
            <a:avLst/>
          </a:prstGeom>
        </p:spPr>
      </p:pic>
      <p:sp>
        <p:nvSpPr>
          <p:cNvPr id="65" name="L-Shape 64">
            <a:extLst>
              <a:ext uri="{FF2B5EF4-FFF2-40B4-BE49-F238E27FC236}">
                <a16:creationId xmlns:a16="http://schemas.microsoft.com/office/drawing/2014/main" id="{50C18229-FC30-2CDA-A4AD-C6A3A64E440C}"/>
              </a:ext>
            </a:extLst>
          </p:cNvPr>
          <p:cNvSpPr/>
          <p:nvPr/>
        </p:nvSpPr>
        <p:spPr>
          <a:xfrm rot="16200000">
            <a:off x="4622445" y="6118583"/>
            <a:ext cx="619125" cy="631108"/>
          </a:xfrm>
          <a:prstGeom prst="corner">
            <a:avLst>
              <a:gd name="adj1" fmla="val 34444"/>
              <a:gd name="adj2" fmla="val 29629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8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Office PowerPoint</Application>
  <PresentationFormat>Widescreen</PresentationFormat>
  <Paragraphs>89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CHEAT SHEET CHƯƠNG 5 CẤU TRÚC VÒNG LẶP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2</cp:revision>
  <dcterms:created xsi:type="dcterms:W3CDTF">2025-11-24T10:11:05Z</dcterms:created>
  <dcterms:modified xsi:type="dcterms:W3CDTF">2025-11-24T10:11:44Z</dcterms:modified>
</cp:coreProperties>
</file>