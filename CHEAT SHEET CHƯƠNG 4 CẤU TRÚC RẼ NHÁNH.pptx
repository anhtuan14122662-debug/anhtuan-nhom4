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34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015" y="3145851"/>
            <a:ext cx="5310020" cy="3251202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015" y="6397048"/>
            <a:ext cx="5310020" cy="186643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3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9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664" y="3130789"/>
            <a:ext cx="5394685" cy="3251223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8664" y="6382007"/>
            <a:ext cx="5394685" cy="2679207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8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011" y="3079909"/>
            <a:ext cx="2846530" cy="721555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9127" y="3079912"/>
            <a:ext cx="2848874" cy="721555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2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9" y="3147242"/>
            <a:ext cx="2840567" cy="7311916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434" y="3147242"/>
            <a:ext cx="2840567" cy="7311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803" y="3262674"/>
            <a:ext cx="2742944" cy="96868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803" y="4231357"/>
            <a:ext cx="2742944" cy="6064112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40919" y="3262676"/>
            <a:ext cx="2753624" cy="968681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40919" y="4231357"/>
            <a:ext cx="2753624" cy="6064112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2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66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1" y="1083734"/>
            <a:ext cx="2085125" cy="3238965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1294" y="1083734"/>
            <a:ext cx="3606707" cy="92117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11" y="4322700"/>
            <a:ext cx="2085125" cy="5972766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0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740" y="1084308"/>
            <a:ext cx="2571110" cy="92541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0" y="1084308"/>
            <a:ext cx="2943507" cy="3252156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32547" y="1322647"/>
            <a:ext cx="2374031" cy="8733906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10" y="4336464"/>
            <a:ext cx="2943507" cy="6002016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24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96" y="960151"/>
            <a:ext cx="5742008" cy="68166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6" y="8116009"/>
            <a:ext cx="5824871" cy="966172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663" y="1235574"/>
            <a:ext cx="5464200" cy="6267860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9" y="9082183"/>
            <a:ext cx="5823992" cy="121328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46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09" y="1081666"/>
            <a:ext cx="5823992" cy="62832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9" y="7635876"/>
            <a:ext cx="5823992" cy="2669913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53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494" y="1083733"/>
            <a:ext cx="5232798" cy="532071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67863" y="6417838"/>
            <a:ext cx="4923168" cy="947109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9" y="7652183"/>
            <a:ext cx="5823992" cy="2647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70594" y="1553621"/>
            <a:ext cx="342900" cy="103960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1269" y="5214658"/>
            <a:ext cx="342900" cy="103960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9462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09" y="3781233"/>
            <a:ext cx="5823992" cy="446548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5" y="8267655"/>
            <a:ext cx="5823112" cy="2027812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8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009" y="1083734"/>
            <a:ext cx="5823992" cy="17252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009" y="3352800"/>
            <a:ext cx="1856804" cy="1024466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009" y="4572000"/>
            <a:ext cx="1856804" cy="572346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01275" y="3352800"/>
            <a:ext cx="1856804" cy="1024466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98307" y="4572000"/>
            <a:ext cx="1856804" cy="572346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81197" y="3352800"/>
            <a:ext cx="1856804" cy="1024466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81197" y="4572000"/>
            <a:ext cx="1856804" cy="572346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15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29" y="3246302"/>
            <a:ext cx="1896785" cy="3259659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360" y="3246302"/>
            <a:ext cx="1896785" cy="3259659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286" y="3246302"/>
            <a:ext cx="1896785" cy="3259659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009" y="1083734"/>
            <a:ext cx="5823992" cy="17252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4009" y="6940633"/>
            <a:ext cx="1856804" cy="1024466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72683" y="3446965"/>
            <a:ext cx="1739457" cy="284969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4009" y="7965101"/>
            <a:ext cx="1856804" cy="2330370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068" y="6940633"/>
            <a:ext cx="1856804" cy="1024466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556980" y="3447278"/>
            <a:ext cx="1739457" cy="2858958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98307" y="7965099"/>
            <a:ext cx="1857565" cy="2330370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81267" y="6940633"/>
            <a:ext cx="1856804" cy="1024466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542581" y="3438990"/>
            <a:ext cx="1739457" cy="2857412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81197" y="7965096"/>
            <a:ext cx="1856804" cy="233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66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64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52977" y="1083734"/>
            <a:ext cx="1285024" cy="921173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010" y="1083734"/>
            <a:ext cx="4453241" cy="921173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1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009" y="1083734"/>
            <a:ext cx="5823992" cy="17252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009" y="3079912"/>
            <a:ext cx="5823992" cy="721555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9289" y="10459158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4921C4C-89FB-4214-BFBD-5871FAA6287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011" y="10459158"/>
            <a:ext cx="3753487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14132" y="10459158"/>
            <a:ext cx="423869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6FB3230-E6B0-44E9-896D-B43757201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94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806B572-AD89-0E1E-2775-88DCA890188E}"/>
              </a:ext>
            </a:extLst>
          </p:cNvPr>
          <p:cNvSpPr/>
          <p:nvPr/>
        </p:nvSpPr>
        <p:spPr>
          <a:xfrm>
            <a:off x="13366" y="9237248"/>
            <a:ext cx="6759060" cy="282798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10D16E9-BCE0-8A70-80E6-F7FFBD7DBCC7}"/>
              </a:ext>
            </a:extLst>
          </p:cNvPr>
          <p:cNvSpPr/>
          <p:nvPr/>
        </p:nvSpPr>
        <p:spPr>
          <a:xfrm>
            <a:off x="2054527" y="3632160"/>
            <a:ext cx="4803473" cy="151212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54B5B9-4020-6AFD-873E-65DF4AF5322B}"/>
              </a:ext>
            </a:extLst>
          </p:cNvPr>
          <p:cNvSpPr/>
          <p:nvPr/>
        </p:nvSpPr>
        <p:spPr>
          <a:xfrm>
            <a:off x="1016000" y="3268654"/>
            <a:ext cx="5842000" cy="35890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Quy tắc thụt đầu dòng (Indentation)</a:t>
            </a:r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DB2B60C5-4ABF-9FA2-9B9A-14AC52F84DA9}"/>
              </a:ext>
            </a:extLst>
          </p:cNvPr>
          <p:cNvSpPr/>
          <p:nvPr/>
        </p:nvSpPr>
        <p:spPr>
          <a:xfrm>
            <a:off x="80214" y="79217"/>
            <a:ext cx="4339386" cy="669041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74FFEFD-DB15-BCC1-64ED-4F128DC686A2}"/>
              </a:ext>
            </a:extLst>
          </p:cNvPr>
          <p:cNvSpPr/>
          <p:nvPr/>
        </p:nvSpPr>
        <p:spPr>
          <a:xfrm>
            <a:off x="-26730" y="829642"/>
            <a:ext cx="5842000" cy="51957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EF062-FE30-9824-81CE-AD153547D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46251" y="212293"/>
            <a:ext cx="6512001" cy="485226"/>
          </a:xfrm>
        </p:spPr>
        <p:txBody>
          <a:bodyPr>
            <a:noAutofit/>
          </a:bodyPr>
          <a:lstStyle/>
          <a:p>
            <a:r>
              <a:rPr 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CHEAT SHEET CHƯƠNG 4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88B4156-0000-ECA3-9110-7767BA50A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84" y="848068"/>
            <a:ext cx="5286191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Toán tử so sánh (Comparison Operators):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 dụng để tạo ra các biểu thức Boolean trả về True (Đúng)hoặc False (Sai).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7FB5CF6-34C0-500D-6516-9CFCE13C6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47837"/>
              </p:ext>
            </p:extLst>
          </p:nvPr>
        </p:nvGraphicFramePr>
        <p:xfrm>
          <a:off x="122211" y="1333269"/>
          <a:ext cx="5268939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239">
                  <a:extLst>
                    <a:ext uri="{9D8B030D-6E8A-4147-A177-3AD203B41FA5}">
                      <a16:colId xmlns:a16="http://schemas.microsoft.com/office/drawing/2014/main" val="1083988682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319379894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03594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Toán tử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Ý nghĩa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Ví dụ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126947"/>
                  </a:ext>
                </a:extLst>
              </a:tr>
              <a:tr h="20937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&lt;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Nhỏ hơn (Less than)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If x &lt;10: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490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&lt;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Nhỏ hơn hoặc bằng (Less than or Equal to)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If x &lt;=5: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756987"/>
                  </a:ext>
                </a:extLst>
              </a:tr>
              <a:tr h="20937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==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Bằng nhau ( Equal to)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If x==5: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16369"/>
                  </a:ext>
                </a:extLst>
              </a:tr>
              <a:tr h="20937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&gt;=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Lớn hơn hoặc bằng (Greater than or Equal to)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If x &gt;=5: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031372"/>
                  </a:ext>
                </a:extLst>
              </a:tr>
              <a:tr h="20937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Lớn hơn (Greater than)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If x &gt;4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042801"/>
                  </a:ext>
                </a:extLst>
              </a:tr>
              <a:tr h="20937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!=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Khác nhau (Not equal)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If x !=6: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302699"/>
                  </a:ext>
                </a:extLst>
              </a:tr>
            </a:tbl>
          </a:graphicData>
        </a:graphic>
      </p:graphicFrame>
      <p:sp>
        <p:nvSpPr>
          <p:cNvPr id="19" name="Rectangle 2">
            <a:extLst>
              <a:ext uri="{FF2B5EF4-FFF2-40B4-BE49-F238E27FC236}">
                <a16:creationId xmlns:a16="http://schemas.microsoft.com/office/drawing/2014/main" id="{2E16C35D-55AD-AF33-18A0-AFCBA4412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1385583"/>
            <a:ext cx="149225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Lưu ý quan trọng: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“=“ được dùng để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giá trị (Assignment). * “==“ được dùng để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sánh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bằng (Comparison).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8715A8A-A25C-1899-FFE5-7A0B77AB5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818" y="3678303"/>
            <a:ext cx="4803473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rất quan trọng việc thụt đầu dòng để xác định khối lệnh.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Tăng mức thụt đầu dòng: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Sau dòng lệnh if hoặc for (sau dấu “:”)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Duy trì mức thụt đầu dòng: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Để chỉ định phạm vi của khối lệnh (các dòng thuộc cùng một khối).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Giảm mức thụt đầu dòng: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Để chỉ định sự kết thúc của khối lệnh.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Cảnh báo: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Không sử dụng phím Tab! Hãy tắt tính năng Tab trong trình soạn thảo code và sử dụng dấu cách (spaces) để tránh lỗi.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A709C078-0AB4-2BC8-6896-CBF042E91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30" y="5492899"/>
            <a:ext cx="3419626" cy="1438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Quyết định một chiều (One-Way Decisions)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Chỉ thực hiện hành động nếu điều kiện là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đúng. Nếu sai, bỏ qua.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5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x == 5: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print('Is 5') # Chỉ chạy dòng này nếu x bằng 5 </a:t>
            </a:r>
            <a:endParaRPr kumimoji="0" lang="en-US" altLang="en-US" sz="125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5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1BC17C-2F88-D7EF-522A-F44B8568854B}"/>
              </a:ext>
            </a:extLst>
          </p:cNvPr>
          <p:cNvSpPr txBox="1"/>
          <p:nvPr/>
        </p:nvSpPr>
        <p:spPr>
          <a:xfrm>
            <a:off x="3229200" y="5521623"/>
            <a:ext cx="37333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Quyết định hai chiều (Two-way Decisions with else)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ạn phải chọn một trong hai hướng.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Làm việc A nếu đúng.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Làm việc B nếu sai (else).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4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x &gt; 2: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print('Bigger') # Chạy nếu đúng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print('Smaller') # Chạy nếu sai</a:t>
            </a:r>
            <a:endParaRPr kumimoji="0" lang="en-US" altLang="en-US" sz="125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A1FF1B-E1F3-722A-7704-A8D86B0D4F91}"/>
              </a:ext>
            </a:extLst>
          </p:cNvPr>
          <p:cNvSpPr txBox="1"/>
          <p:nvPr/>
        </p:nvSpPr>
        <p:spPr>
          <a:xfrm>
            <a:off x="0" y="7389810"/>
            <a:ext cx="326030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Quyết định đa chiều (Multi-way with elif)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tra lần lượt các điều kiện. Chỉ </a:t>
            </a: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khối lệnh duy nhất được thực thi.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x &lt; 2: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print('Small’)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elif x &lt; 10: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print('Medium’)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print('Large’)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C62D8E-7A95-69E6-5DB1-362FB3F09126}"/>
              </a:ext>
            </a:extLst>
          </p:cNvPr>
          <p:cNvSpPr txBox="1"/>
          <p:nvPr/>
        </p:nvSpPr>
        <p:spPr>
          <a:xfrm>
            <a:off x="3222145" y="7389810"/>
            <a:ext cx="57277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Cấu trúc lồng nhau (Nested Decisions)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Đặt một câu lệnh if bên trong một câu lệnh if khác.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x &gt; 1: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print('More than one’)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x &lt; 100: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print('Less than 100')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0691B0-A2D7-CD38-A78B-4E638C54370C}"/>
              </a:ext>
            </a:extLst>
          </p:cNvPr>
          <p:cNvSpPr txBox="1"/>
          <p:nvPr/>
        </p:nvSpPr>
        <p:spPr>
          <a:xfrm>
            <a:off x="-26730" y="5136183"/>
            <a:ext cx="57277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3. Các cấu trúc điều kiện (Conditional Structures)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185119-3A83-40A3-C757-5F4862D28317}"/>
              </a:ext>
            </a:extLst>
          </p:cNvPr>
          <p:cNvCxnSpPr>
            <a:cxnSpLocks/>
          </p:cNvCxnSpPr>
          <p:nvPr/>
        </p:nvCxnSpPr>
        <p:spPr>
          <a:xfrm flipH="1">
            <a:off x="3237617" y="5578637"/>
            <a:ext cx="16323" cy="360135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1C2A49D-AEB8-8796-8F79-11C077B2AE49}"/>
              </a:ext>
            </a:extLst>
          </p:cNvPr>
          <p:cNvCxnSpPr>
            <a:cxnSpLocks/>
          </p:cNvCxnSpPr>
          <p:nvPr/>
        </p:nvCxnSpPr>
        <p:spPr>
          <a:xfrm>
            <a:off x="496497" y="7362640"/>
            <a:ext cx="558949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8114A0A-1102-F442-220C-EF344D41117C}"/>
              </a:ext>
            </a:extLst>
          </p:cNvPr>
          <p:cNvSpPr txBox="1"/>
          <p:nvPr/>
        </p:nvSpPr>
        <p:spPr>
          <a:xfrm>
            <a:off x="-8821" y="9268904"/>
            <a:ext cx="695668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5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1250" b="1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 là viết tắt của "else if".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Thứ tự rất quan trọng; Python sẽ dừng lại ở điều kiện đúng đầu tiên tìm thấy.</a:t>
            </a:r>
            <a:endParaRPr kumimoji="0" lang="en-US" altLang="en-US" sz="125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A915AD69-1E7D-D5EC-8213-9C0E6977FFF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0214" y="9854476"/>
            <a:ext cx="3127466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 để xử lý các đoạn code có thể gây lỗi, ví dụ như khi người dùng nhập sai dữ liệu.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Nguyên lí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thử chạy code trong khối try.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Nếu code chạy ổn: Khối except bị bỏ qua.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Nếu code bị lỗi (traceback): Python nhảy ngay sang khối except để xử lý thay vì dừng lại.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D083A-1527-2A98-DA23-3F70951747C8}"/>
              </a:ext>
            </a:extLst>
          </p:cNvPr>
          <p:cNvSpPr txBox="1"/>
          <p:nvPr/>
        </p:nvSpPr>
        <p:spPr>
          <a:xfrm>
            <a:off x="3392896" y="9797247"/>
            <a:ext cx="508054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Ví dụ thực tế (Chuyển đổi dữ liệu nhập):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rawstr = input('Enter a number:’)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try: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ival = int(rawstr) # Dòng này sẽ lỗi nếu nhập chữ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ival = -1 # Giá trị mặc định nếu có lỗi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ival &gt; 0: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print('Nice work’)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print('Not a number') # Thông báo lỗi thân thiện</a:t>
            </a:r>
            <a:endParaRPr lang="en-US" sz="13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82206-1386-6EA5-8028-11BD87A7678D}"/>
              </a:ext>
            </a:extLst>
          </p:cNvPr>
          <p:cNvSpPr txBox="1"/>
          <p:nvPr/>
        </p:nvSpPr>
        <p:spPr>
          <a:xfrm>
            <a:off x="19754" y="9550678"/>
            <a:ext cx="504825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Xử lý lỗi (The try / except Structure)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65C0A5-3160-6DB2-25D4-388EB6A5B283}"/>
              </a:ext>
            </a:extLst>
          </p:cNvPr>
          <p:cNvCxnSpPr>
            <a:cxnSpLocks/>
          </p:cNvCxnSpPr>
          <p:nvPr/>
        </p:nvCxnSpPr>
        <p:spPr>
          <a:xfrm>
            <a:off x="3269296" y="9854476"/>
            <a:ext cx="0" cy="21252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623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77</TotalTime>
  <Words>672</Words>
  <Application>Microsoft Office PowerPoint</Application>
  <PresentationFormat>Widescreen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Calisto MT</vt:lpstr>
      <vt:lpstr>Times New Roman</vt:lpstr>
      <vt:lpstr>Wingdings 2</vt:lpstr>
      <vt:lpstr>Slate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2</cp:revision>
  <dcterms:created xsi:type="dcterms:W3CDTF">2025-11-24T03:50:37Z</dcterms:created>
  <dcterms:modified xsi:type="dcterms:W3CDTF">2025-11-24T05:08:57Z</dcterms:modified>
</cp:coreProperties>
</file>