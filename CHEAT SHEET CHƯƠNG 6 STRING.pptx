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3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25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68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1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6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26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5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4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26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6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5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39EB0-5CAC-46A1-B059-2D7F0578BEC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E1641-6A5E-4DFD-BFC9-A39E0399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0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0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7AC9414-8026-4261-BB92-5C0976966DA8}"/>
              </a:ext>
            </a:extLst>
          </p:cNvPr>
          <p:cNvSpPr/>
          <p:nvPr/>
        </p:nvSpPr>
        <p:spPr>
          <a:xfrm>
            <a:off x="346746" y="7821171"/>
            <a:ext cx="1579333" cy="4924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A5B72D-7E77-6B3F-629C-2E82FE30A8EB}"/>
              </a:ext>
            </a:extLst>
          </p:cNvPr>
          <p:cNvSpPr/>
          <p:nvPr/>
        </p:nvSpPr>
        <p:spPr>
          <a:xfrm>
            <a:off x="346746" y="8467827"/>
            <a:ext cx="2695258" cy="4924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A4C4C4-A9C9-5791-8398-E84038ECFE9E}"/>
              </a:ext>
            </a:extLst>
          </p:cNvPr>
          <p:cNvSpPr/>
          <p:nvPr/>
        </p:nvSpPr>
        <p:spPr>
          <a:xfrm>
            <a:off x="3352585" y="8474279"/>
            <a:ext cx="3105337" cy="4988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8DF45A-FFBB-4DC2-7723-926F8B3805F5}"/>
              </a:ext>
            </a:extLst>
          </p:cNvPr>
          <p:cNvSpPr/>
          <p:nvPr/>
        </p:nvSpPr>
        <p:spPr>
          <a:xfrm>
            <a:off x="0" y="-20995"/>
            <a:ext cx="6858000" cy="43355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D3BB96-54C1-E5C7-1B8E-46E8FFDDBA39}"/>
              </a:ext>
            </a:extLst>
          </p:cNvPr>
          <p:cNvSpPr/>
          <p:nvPr/>
        </p:nvSpPr>
        <p:spPr>
          <a:xfrm>
            <a:off x="0" y="0"/>
            <a:ext cx="2695903" cy="153713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D74B0-D2E7-2F55-55CF-99D369A11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548"/>
            <a:ext cx="3058510" cy="670560"/>
          </a:xfrm>
        </p:spPr>
        <p:txBody>
          <a:bodyPr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l"/>
            <a:r>
              <a:rPr lang="en-US" sz="2800" b="1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CHEAT SHEET </a:t>
            </a:r>
          </a:p>
          <a:p>
            <a:pPr algn="l"/>
            <a:r>
              <a:rPr lang="en-US" sz="2800" b="1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6  </a:t>
            </a:r>
            <a:r>
              <a:rPr lang="en-US" sz="2800" b="1">
                <a:ln/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D996F8-24B9-9270-E741-2C6FB70C4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6192" y="429951"/>
            <a:ext cx="3976852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Khái niệm cơ bản về Chuỗi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Định nghĩa: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Chuỗi là một dãy các ký tự.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Cú pháp: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 dụng dấu nháy đơn 'Hello' hoặc nháy kép "Hello".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Chuyển đổi: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Nếu chuỗi chứa số, phải dùng hàm int() để chuyển thành số trước khi tính toán toán học.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Đầu vào: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 liệu nhập từ input() luôn là chuỗi 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DFC5B2-A7BA-81F3-32E0-272BF080EF37}"/>
              </a:ext>
            </a:extLst>
          </p:cNvPr>
          <p:cNvCxnSpPr>
            <a:cxnSpLocks/>
          </p:cNvCxnSpPr>
          <p:nvPr/>
        </p:nvCxnSpPr>
        <p:spPr>
          <a:xfrm>
            <a:off x="2695903" y="341612"/>
            <a:ext cx="0" cy="213424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A3EFA-B1EF-65C8-4947-C96EFDBA3988}"/>
              </a:ext>
            </a:extLst>
          </p:cNvPr>
          <p:cNvCxnSpPr>
            <a:cxnSpLocks/>
          </p:cNvCxnSpPr>
          <p:nvPr/>
        </p:nvCxnSpPr>
        <p:spPr>
          <a:xfrm>
            <a:off x="2675582" y="1992805"/>
            <a:ext cx="366548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5686B816-AB1F-02D7-B31F-90DE499A4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6" y="1717997"/>
            <a:ext cx="2695902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2. Chỉ số và Cắt chuỗi (Indexing &amp; Slicing)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Chỉ số (Index):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Truy cập ký tự bằng ngoặc vuông []. Chỉ số bắt đầu từ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fruit = 'banana’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etter = fruit[1] # Kết quả: 'a’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Độ dài chuỗi: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Dùng hàm len() để đếm số ký tự.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Cắt chuỗi (Slicing):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Lấy một đoạn chuỗi bằng toán tử hai chấm “:”.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Cú pháp: [start:end]. Lấy từ start đến trước end (không bao gồm end).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Mẹo tắt: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Bỏ trống số đầu nghĩa là bắt đầu từ đầu, bỏ trống số cuối nghĩa là lấy đến hết.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= 'Monty Python’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print(s[0:4]) # 'Mont’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print(s[:2]) # 'Mo' (từ đầu đến 2)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print(s[8:]) # 'thon' (từ 8 đến hết)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7FD932-7ACC-4F51-7069-DF1B6D0916BC}"/>
              </a:ext>
            </a:extLst>
          </p:cNvPr>
          <p:cNvSpPr/>
          <p:nvPr/>
        </p:nvSpPr>
        <p:spPr>
          <a:xfrm>
            <a:off x="40640" y="1745807"/>
            <a:ext cx="2655263" cy="414699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8457778-8E82-26BF-04F2-C6CCC5DD1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542" y="1951747"/>
            <a:ext cx="3976850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3. Các thao tác cơ bản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Nối chuỗi (+):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Ghép hai chuỗi lại với nhau (Concatenation).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Toán tử in: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tra một chuỗi con có nằm trong chuỗi lớn không. Trả về True hoặc False.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'n' in 'banana' # True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'm' in 'banana' # 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So sánh chuỗi: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 ==, &lt;, &gt; để so sánh theo thứ tự bảng chữ cái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89792C5-6101-7938-E848-1B24901D9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492983"/>
              </p:ext>
            </p:extLst>
          </p:nvPr>
        </p:nvGraphicFramePr>
        <p:xfrm>
          <a:off x="2778213" y="4466827"/>
          <a:ext cx="3952809" cy="3573908"/>
        </p:xfrm>
        <a:graphic>
          <a:graphicData uri="http://schemas.openxmlformats.org/drawingml/2006/table">
            <a:tbl>
              <a:tblPr/>
              <a:tblGrid>
                <a:gridCol w="550989">
                  <a:extLst>
                    <a:ext uri="{9D8B030D-6E8A-4147-A177-3AD203B41FA5}">
                      <a16:colId xmlns:a16="http://schemas.microsoft.com/office/drawing/2014/main" val="449149471"/>
                    </a:ext>
                  </a:extLst>
                </a:gridCol>
                <a:gridCol w="2230967">
                  <a:extLst>
                    <a:ext uri="{9D8B030D-6E8A-4147-A177-3AD203B41FA5}">
                      <a16:colId xmlns:a16="http://schemas.microsoft.com/office/drawing/2014/main" val="1499122659"/>
                    </a:ext>
                  </a:extLst>
                </a:gridCol>
                <a:gridCol w="1170853">
                  <a:extLst>
                    <a:ext uri="{9D8B030D-6E8A-4147-A177-3AD203B41FA5}">
                      <a16:colId xmlns:a16="http://schemas.microsoft.com/office/drawing/2014/main" val="3607225174"/>
                    </a:ext>
                  </a:extLst>
                </a:gridCol>
              </a:tblGrid>
              <a:tr h="192646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Hàm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 năng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49"/>
                  </a:ext>
                </a:extLst>
              </a:tr>
              <a:tr h="279138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 thành chữ thường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'Hi'.lower() -&gt; 'hi'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525137"/>
                  </a:ext>
                </a:extLst>
              </a:tr>
              <a:tr h="390793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upper()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 thành chữ hoa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'Hi'.upper() -&gt; 'HI'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171574"/>
                  </a:ext>
                </a:extLst>
              </a:tr>
              <a:tr h="502448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Thay thế chuỗi con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'Hi Bob'.replace('Bob', 'Jane')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364539"/>
                  </a:ext>
                </a:extLst>
              </a:tr>
              <a:tr h="390793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lstrip()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Xóa khoảng trắng bên trái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 Hi'.lstrip() -&gt; 'Hi'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600009"/>
                  </a:ext>
                </a:extLst>
              </a:tr>
              <a:tr h="390793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rstrip()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Xóa khoảng trắng bên phải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'Hi '.rstrip() -&gt; 'Hi'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090371"/>
                  </a:ext>
                </a:extLst>
              </a:tr>
              <a:tr h="390793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strip()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Xóa khoảng trắng 2 đầu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 Hi '.strip() -&gt; 'Hi'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39332"/>
                  </a:ext>
                </a:extLst>
              </a:tr>
              <a:tr h="390793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startswith()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tra ký tự bắt đầu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'Please'.startswith('P') -&gt; True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9849"/>
                  </a:ext>
                </a:extLst>
              </a:tr>
              <a:tr h="502448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Tìm vị trí đầu tiên của chuỗi con (trả về -1 nếu không thấy)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'banana'.find('na’)</a:t>
                      </a:r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2</a:t>
                      </a:r>
                      <a:r>
                        <a:rPr lang="en-US" sz="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94355"/>
                  </a:ext>
                </a:extLst>
              </a:tr>
            </a:tbl>
          </a:graphicData>
        </a:graphic>
      </p:graphicFrame>
      <p:sp>
        <p:nvSpPr>
          <p:cNvPr id="19" name="Rectangle 4">
            <a:extLst>
              <a:ext uri="{FF2B5EF4-FFF2-40B4-BE49-F238E27FC236}">
                <a16:creationId xmlns:a16="http://schemas.microsoft.com/office/drawing/2014/main" id="{DD94C83E-9DB8-6540-ED04-5D60A215B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903" y="3813867"/>
            <a:ext cx="4175724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4. Thư viện xử lý chuỗi (String Library)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 phương thức này không thay đổi chuỗi gốc mà trả về một chuỗi mới đã được chỉnh sửa.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5254D771-9656-7C82-B4BA-7C8BAF7AD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19" y="6043662"/>
            <a:ext cx="275789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5. Kỹ thuật trích xuất dữ liệu (Parsing)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Kết hợp find() và Slicing để lấy thông tin cụ thể (ví dụ: lấy tên miền từ email).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Bài toán: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Lấy "uct.ac.za" từ chuỗi data = 'From stephen.marquard@uct.ac.za Sat Jan 5'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DD60D9FD-92C2-4004-CECC-0C3FB9A77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43" y="7821089"/>
            <a:ext cx="162897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Tìm vị trí ký tự @: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atpos = data.find('@')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B4609F0A-27A9-A4E1-0437-0A515EEA9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41" y="8414510"/>
            <a:ext cx="285526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Tìm khoảng trắng đầu tiên </a:t>
            </a: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ký tự @: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sppos = data.find(' ', atpos)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DCA50390-6F62-D249-776B-2D12F68C9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591" y="8474279"/>
            <a:ext cx="310533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Cắt chuỗi từ sau @ đến trước khoảng trắng: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 = data[atpos+1 : sppos]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F05E27-FCB1-24B4-4E2D-04C63CB5FC61}"/>
              </a:ext>
            </a:extLst>
          </p:cNvPr>
          <p:cNvSpPr/>
          <p:nvPr/>
        </p:nvSpPr>
        <p:spPr>
          <a:xfrm>
            <a:off x="2891954" y="569441"/>
            <a:ext cx="224352" cy="1432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D8EF34-26E8-E6AB-D41F-83CF065B3F05}"/>
              </a:ext>
            </a:extLst>
          </p:cNvPr>
          <p:cNvSpPr/>
          <p:nvPr/>
        </p:nvSpPr>
        <p:spPr>
          <a:xfrm>
            <a:off x="154565" y="6147165"/>
            <a:ext cx="224352" cy="1432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10AD72-0CCA-DCCB-9608-29B1D85E9398}"/>
              </a:ext>
            </a:extLst>
          </p:cNvPr>
          <p:cNvSpPr/>
          <p:nvPr/>
        </p:nvSpPr>
        <p:spPr>
          <a:xfrm>
            <a:off x="2897658" y="3885075"/>
            <a:ext cx="224352" cy="1432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DFCAF4-DCF8-8E65-B567-77640D1B345D}"/>
              </a:ext>
            </a:extLst>
          </p:cNvPr>
          <p:cNvSpPr/>
          <p:nvPr/>
        </p:nvSpPr>
        <p:spPr>
          <a:xfrm>
            <a:off x="92655" y="1839295"/>
            <a:ext cx="224352" cy="1432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B2DD41-21FD-9A39-8F1C-5FF12A202752}"/>
              </a:ext>
            </a:extLst>
          </p:cNvPr>
          <p:cNvSpPr/>
          <p:nvPr/>
        </p:nvSpPr>
        <p:spPr>
          <a:xfrm>
            <a:off x="2888713" y="2059853"/>
            <a:ext cx="224352" cy="1432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C181C18-F33A-FB5E-4D99-65004D2E6AAA}"/>
              </a:ext>
            </a:extLst>
          </p:cNvPr>
          <p:cNvCxnSpPr>
            <a:cxnSpLocks/>
          </p:cNvCxnSpPr>
          <p:nvPr/>
        </p:nvCxnSpPr>
        <p:spPr>
          <a:xfrm>
            <a:off x="2695903" y="7669618"/>
            <a:ext cx="0" cy="44250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1E45801-1890-CAE0-06A2-0A88F4D007F2}"/>
              </a:ext>
            </a:extLst>
          </p:cNvPr>
          <p:cNvCxnSpPr>
            <a:cxnSpLocks/>
          </p:cNvCxnSpPr>
          <p:nvPr/>
        </p:nvCxnSpPr>
        <p:spPr>
          <a:xfrm>
            <a:off x="2686926" y="8110537"/>
            <a:ext cx="1197687" cy="1588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955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</TotalTime>
  <Words>609</Words>
  <Application>Microsoft Office PowerPoint</Application>
  <PresentationFormat>On-screen Show (4:3)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1</cp:revision>
  <dcterms:created xsi:type="dcterms:W3CDTF">2025-11-24T12:37:14Z</dcterms:created>
  <dcterms:modified xsi:type="dcterms:W3CDTF">2025-11-24T13:28:31Z</dcterms:modified>
</cp:coreProperties>
</file>