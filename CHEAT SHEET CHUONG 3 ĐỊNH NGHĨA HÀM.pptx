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 autoAdjust="0"/>
    <p:restoredTop sz="94660"/>
  </p:normalViewPr>
  <p:slideViewPr>
    <p:cSldViewPr snapToGrid="0">
      <p:cViewPr>
        <p:scale>
          <a:sx n="100" d="100"/>
          <a:sy n="100" d="100"/>
        </p:scale>
        <p:origin x="2080" y="-1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4433C-6255-FFBF-AB43-381F20458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48D704-C1F8-FA78-8151-58B45296C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AFA6E-4084-13D0-9AA0-12831DA6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7B2D2-C60E-416D-8802-2041E2E886C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36826-F271-73A9-06D5-BB4A0C1AB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F1858-055A-62C5-3FE1-4BA66907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B04F-523B-4A3C-9BFF-F886AD5D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80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5D6AC-4138-1E66-E96A-E0A149900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712ED-D29E-25DB-B1BD-1901D73C4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BBB8C-956C-25A4-0A98-95CF38F0B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7B2D2-C60E-416D-8802-2041E2E886C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4ECF7-F41B-E128-E594-16B7ADDF1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AB2C0-146C-88B5-47E7-5852BDF0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B04F-523B-4A3C-9BFF-F886AD5D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A7863-3EDC-5C40-9458-AB5A84FB0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4E5C7-3DC0-5C84-BBFD-239125976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D3B10-4F1E-F89E-286E-45CFAA835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7B2D2-C60E-416D-8802-2041E2E886C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98962-05F1-FA1E-1526-7C5E8F06B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0B7EB-31EF-C5C7-79AE-AE97BA58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B04F-523B-4A3C-9BFF-F886AD5D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2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EF3B-D476-6EC8-CCED-324A00090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013B6-53ED-16F2-C5FD-4062F3D4AA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C983B-DAA6-9FDE-A42D-3B0006078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A8C03-FE46-89B4-480C-6B6C908F1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7B2D2-C60E-416D-8802-2041E2E886C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2407F-F379-4A82-C465-01ADEF2A6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A630F-9D31-4211-B652-52B42F216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B04F-523B-4A3C-9BFF-F886AD5D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78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3D4AA-F53C-0C70-3B55-756C5BDB0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3FFAC-B30C-90D9-C463-B1512F5A2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D4F566-10A5-0B30-0F8F-C150DDC28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364B99-443B-20C3-5E09-8E65DE22EB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1ECE56-6E2A-BE1D-B9DE-E495EF5F43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C1C2C3-A1A6-3D2B-92D9-C62791647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7B2D2-C60E-416D-8802-2041E2E886C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39C0E-AE71-315A-1E49-FC3BC2270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382326-1A4A-CADE-476C-3B341D86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B04F-523B-4A3C-9BFF-F886AD5D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050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40DDE-4DB7-4EF7-31CA-D31DAFD9B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B9035B-3FBD-C399-ECAB-F5C70D99A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7B2D2-C60E-416D-8802-2041E2E886C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1AEEB6-3C54-C437-8B04-3DFBCA24C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2B74E7-5022-EF87-8E3A-47C3DD67B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B04F-523B-4A3C-9BFF-F886AD5D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33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4068BD-F7EA-577D-6662-636CB2958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7B2D2-C60E-416D-8802-2041E2E886C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C0ECF-C101-1B3F-58C6-E5815790F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22534-2E2C-18A2-798B-548559583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B04F-523B-4A3C-9BFF-F886AD5D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08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127F4-B39F-B773-FBA8-56714847A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1E2E2-4D48-343D-CF5A-C8737C7B7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8FB74-A6A0-2F9D-AFB3-43B65F7C0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DB3CF-9719-0E7D-E3EA-D6552FD75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7B2D2-C60E-416D-8802-2041E2E886C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AE22F-CB63-082A-B471-704CCB68D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F180D-AEBA-C645-F7DB-3D853C9C8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B04F-523B-4A3C-9BFF-F886AD5D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14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3502-3995-F756-A635-0995E44F1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7709C4-997C-243B-9E6C-A596E4C7AA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01D5F-7B60-AF36-23BC-945815789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65C5A-168F-FD39-DE92-6B5E4A12F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7B2D2-C60E-416D-8802-2041E2E886C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03079-8DB8-2F5B-8859-D1F728925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C9103-EC40-647D-6370-F95F96339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B04F-523B-4A3C-9BFF-F886AD5D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36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47EC0-38EB-00AD-AC93-81B061DF4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F6BC60-E24E-243B-B2FB-67972A081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71059-FA2E-4B6B-2675-16C2EBBA4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7B2D2-C60E-416D-8802-2041E2E886C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7CCFA-90D9-E9C4-BCD4-28B886F6C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40423-5915-3A20-F134-5C326E7D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B04F-523B-4A3C-9BFF-F886AD5D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02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348EC5-16AD-A18E-14D8-C24C939D4B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0DF8A-C740-BFCE-703C-5008EF8FA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7E6FC-2F79-7331-EAEC-4AD69219A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7B2D2-C60E-416D-8802-2041E2E886C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106B-B727-9525-935A-79680DE3A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211CE-857D-E24A-7F1A-65266739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B04F-523B-4A3C-9BFF-F886AD5D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01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B6408-9104-A5FC-A3DE-EC260E93E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C1707-49FD-8ADA-E016-860191C74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DBE41-C4D4-D135-AF57-D1F3DD54C1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87B2D2-C60E-416D-8802-2041E2E886C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B5278-21BA-BB84-5EAC-832D968C4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D6A8B-3062-75AF-F456-2104BC295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A0B04F-523B-4A3C-9BFF-F886AD5D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12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58144F-9159-EA16-BD05-05A5840857D1}"/>
              </a:ext>
            </a:extLst>
          </p:cNvPr>
          <p:cNvSpPr/>
          <p:nvPr/>
        </p:nvSpPr>
        <p:spPr>
          <a:xfrm>
            <a:off x="346484" y="1235082"/>
            <a:ext cx="65670" cy="50062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BD4D87-6DC5-D261-10BF-C39521706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375" y="218332"/>
            <a:ext cx="5248077" cy="502292"/>
          </a:xfrm>
        </p:spPr>
        <p:txBody>
          <a:bodyPr>
            <a:noAutofit/>
          </a:bodyPr>
          <a:lstStyle/>
          <a:p>
            <a:b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CHEAT SHEET CHƯƠNG 3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64E3E8-0FB8-4117-314E-DBF4F34F3AC2}"/>
              </a:ext>
            </a:extLst>
          </p:cNvPr>
          <p:cNvSpPr txBox="1">
            <a:spLocks/>
          </p:cNvSpPr>
          <p:nvPr/>
        </p:nvSpPr>
        <p:spPr>
          <a:xfrm>
            <a:off x="415924" y="678905"/>
            <a:ext cx="5829300" cy="3322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ĐỊNH NGHĨA HÀM : FUNCTION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18ABB8F-5F70-BD71-0BF6-3B6836985E26}"/>
              </a:ext>
            </a:extLst>
          </p:cNvPr>
          <p:cNvCxnSpPr/>
          <p:nvPr/>
        </p:nvCxnSpPr>
        <p:spPr>
          <a:xfrm>
            <a:off x="849406" y="2641035"/>
            <a:ext cx="54453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">
            <a:extLst>
              <a:ext uri="{FF2B5EF4-FFF2-40B4-BE49-F238E27FC236}">
                <a16:creationId xmlns:a16="http://schemas.microsoft.com/office/drawing/2014/main" id="{3EF37F00-4E65-DFA5-0BF0-4BBA42E5E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88" y="1156177"/>
            <a:ext cx="6251825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KHÁI NIỆM CỐT LÕI (CORE CONCEPTS)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Định nghĩa: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Hàm là các đoạn mã có thể tái sử dụng, nhận đầu vào, thực hiện tính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toán và trả về kết quả.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 Mục đích:</a:t>
            </a:r>
            <a:endParaRPr lang="en-US" altLang="en-US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Lưu trữ các bước xử lý để tái sử dụng (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 and Reuse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Tổ chức mã thành các "đoạn văn" logic (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Tránh lặp lại mã (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Don't repeat yourself - DRY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raphic 4" descr="Clipboard with solid fill">
            <a:extLst>
              <a:ext uri="{FF2B5EF4-FFF2-40B4-BE49-F238E27FC236}">
                <a16:creationId xmlns:a16="http://schemas.microsoft.com/office/drawing/2014/main" id="{0335F79D-CB30-7133-1FEA-7C5B488FA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779" y="1736209"/>
            <a:ext cx="398010" cy="39801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6F8A8E2-A83C-6DF0-CD1B-151F4487B78C}"/>
              </a:ext>
            </a:extLst>
          </p:cNvPr>
          <p:cNvSpPr/>
          <p:nvPr/>
        </p:nvSpPr>
        <p:spPr>
          <a:xfrm>
            <a:off x="348005" y="2134219"/>
            <a:ext cx="65670" cy="133280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5C23C20-81DF-1113-FCF4-B1B88BFC2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76" y="2614307"/>
            <a:ext cx="6168047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CẤU TRÚC HÀM (SYNTAX)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Sử dụng từ khóa def để định nghĩa hàm mới.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ten_ham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(tham_so):           #  1. Header: Dùng 'def', kết thúc bằng ':' 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# Thân hàm (Body)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ket_qua = tham_so + 1     #  2. Phải thụt đầu dòng (Indent)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ket_qua                        #   3. Trả về giá trị (nếu có)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Gọi hàm (Invoke)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x = ten_ham(5)                     #   Gọi tên hàm kèm ngoặc đơn ()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Lưu ý: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Việc định nghĩa (def) chỉ lưu mã lệnh, không thực thi nó ngay. Mã chỉ chạy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khi hàm được gọi.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132032-4F06-BED7-B195-AFED3760EB37}"/>
              </a:ext>
            </a:extLst>
          </p:cNvPr>
          <p:cNvCxnSpPr/>
          <p:nvPr/>
        </p:nvCxnSpPr>
        <p:spPr>
          <a:xfrm>
            <a:off x="931262" y="4719255"/>
            <a:ext cx="54453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807F859-4DF6-9F6F-37B1-A468B1EE1EE1}"/>
              </a:ext>
            </a:extLst>
          </p:cNvPr>
          <p:cNvSpPr/>
          <p:nvPr/>
        </p:nvSpPr>
        <p:spPr>
          <a:xfrm flipH="1">
            <a:off x="365399" y="9899744"/>
            <a:ext cx="69757" cy="98266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359C71-E9D2-F020-8A4D-F3EF5C0E4989}"/>
              </a:ext>
            </a:extLst>
          </p:cNvPr>
          <p:cNvSpPr/>
          <p:nvPr/>
        </p:nvSpPr>
        <p:spPr>
          <a:xfrm>
            <a:off x="352468" y="3907699"/>
            <a:ext cx="72386" cy="150885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01E384-99A5-12BF-79F0-7C730B5BCD74}"/>
              </a:ext>
            </a:extLst>
          </p:cNvPr>
          <p:cNvSpPr/>
          <p:nvPr/>
        </p:nvSpPr>
        <p:spPr>
          <a:xfrm>
            <a:off x="355097" y="5813550"/>
            <a:ext cx="69757" cy="16392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Graphic 20" descr="Books with solid fill">
            <a:extLst>
              <a:ext uri="{FF2B5EF4-FFF2-40B4-BE49-F238E27FC236}">
                <a16:creationId xmlns:a16="http://schemas.microsoft.com/office/drawing/2014/main" id="{99CD9A3F-B565-4824-8AE6-1D865A4250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617" y="3465965"/>
            <a:ext cx="441733" cy="441733"/>
          </a:xfrm>
          <a:prstGeom prst="rect">
            <a:avLst/>
          </a:prstGeom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F0BD40E-0CE3-5BE0-8EE4-1DD2856CF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268229"/>
              </p:ext>
            </p:extLst>
          </p:nvPr>
        </p:nvGraphicFramePr>
        <p:xfrm>
          <a:off x="826370" y="4808887"/>
          <a:ext cx="5655085" cy="156846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07427">
                  <a:extLst>
                    <a:ext uri="{9D8B030D-6E8A-4147-A177-3AD203B41FA5}">
                      <a16:colId xmlns:a16="http://schemas.microsoft.com/office/drawing/2014/main" val="602509622"/>
                    </a:ext>
                  </a:extLst>
                </a:gridCol>
                <a:gridCol w="1873829">
                  <a:extLst>
                    <a:ext uri="{9D8B030D-6E8A-4147-A177-3AD203B41FA5}">
                      <a16:colId xmlns:a16="http://schemas.microsoft.com/office/drawing/2014/main" val="1530940557"/>
                    </a:ext>
                  </a:extLst>
                </a:gridCol>
                <a:gridCol w="1873829">
                  <a:extLst>
                    <a:ext uri="{9D8B030D-6E8A-4147-A177-3AD203B41FA5}">
                      <a16:colId xmlns:a16="http://schemas.microsoft.com/office/drawing/2014/main" val="3695648830"/>
                    </a:ext>
                  </a:extLst>
                </a:gridCol>
              </a:tblGrid>
              <a:tr h="235606">
                <a:tc gridSpan="3">
                  <a:txBody>
                    <a:bodyPr/>
                    <a:lstStyle/>
                    <a:p>
                      <a:pPr algn="ctr"/>
                      <a:r>
                        <a:rPr kumimoji="0" lang="en-US" altLang="en-US" sz="105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105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PHÂN LOẠI HÀM (TYPES OF FUNCTIONS)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96786193"/>
                  </a:ext>
                </a:extLst>
              </a:tr>
              <a:tr h="387513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Loại hàm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                         Mô tả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Ví dụ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7532773"/>
                  </a:ext>
                </a:extLst>
              </a:tr>
              <a:tr h="46474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Built -  in( có sẵn)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Được python cung cấp sẵn, chỉ việc dùng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Print(), input(), type(), float(), int()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6405950"/>
                  </a:ext>
                </a:extLst>
              </a:tr>
              <a:tr h="46474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User - defined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Do lập trình viên định nghĩa bằng def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Def print_ lyrics():…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1406741"/>
                  </a:ext>
                </a:extLst>
              </a:tr>
            </a:tbl>
          </a:graphicData>
        </a:graphic>
      </p:graphicFrame>
      <p:pic>
        <p:nvPicPr>
          <p:cNvPr id="26" name="Graphic 25" descr="Checklist with solid fill">
            <a:extLst>
              <a:ext uri="{FF2B5EF4-FFF2-40B4-BE49-F238E27FC236}">
                <a16:creationId xmlns:a16="http://schemas.microsoft.com/office/drawing/2014/main" id="{BAEB31B5-3014-DB72-17D5-20E24EE7CD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6779" y="5412839"/>
            <a:ext cx="412750" cy="41275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93D5750-E2E2-2B57-03D6-A7FE22F3CBDB}"/>
              </a:ext>
            </a:extLst>
          </p:cNvPr>
          <p:cNvCxnSpPr/>
          <p:nvPr/>
        </p:nvCxnSpPr>
        <p:spPr>
          <a:xfrm>
            <a:off x="948328" y="6494979"/>
            <a:ext cx="53486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44BD27E-561E-DC2A-06AA-138874AFB538}"/>
              </a:ext>
            </a:extLst>
          </p:cNvPr>
          <p:cNvSpPr txBox="1"/>
          <p:nvPr/>
        </p:nvSpPr>
        <p:spPr>
          <a:xfrm>
            <a:off x="1658066" y="6513683"/>
            <a:ext cx="460469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>
                <a:latin typeface="Times New Roman" panose="02020603050405020304" pitchFamily="18" charset="0"/>
                <a:cs typeface="Times New Roman" panose="02020603050405020304" pitchFamily="18" charset="0"/>
              </a:rPr>
              <a:t>INPUT &amp; OUTPUT (ĐẦU VÀO &amp; ĐẦU RA)</a:t>
            </a: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86D7B703-9BE4-6827-D42E-F0906EBDA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241" y="6729190"/>
            <a:ext cx="2901952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Tham số vs. Đối số (Parameters vs. Arguments)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Parameter </a:t>
            </a: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(Tham số):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Là biến được dùng trong </a:t>
            </a: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định nghĩa hàm. Nó đóng vai trò như một "tay cầm" (handle) để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truy cập dữ liệu 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Argument </a:t>
            </a: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(Đối số):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Là giá trị thực tế được truyền vào khi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hàm.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Ví dụ: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big = max('Hello world’)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'Hello world' là đối số.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4">
            <a:extLst>
              <a:ext uri="{FF2B5EF4-FFF2-40B4-BE49-F238E27FC236}">
                <a16:creationId xmlns:a16="http://schemas.microsoft.com/office/drawing/2014/main" id="{15527F56-FC45-F1E1-C967-AA25F26C5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608" y="6729190"/>
            <a:ext cx="2966157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B. Fruitful vs. Void (Hữu ích vs. Hư vô)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Void Function: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Hàm </a:t>
            </a: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trả về giá trị (không có lệnh return hoặc return rỗng).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300" b="1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Fruitful Function: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Hàm </a:t>
            </a: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có 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rả về kết quả (sử dụng lệnh return).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Lệnh return kết thúc hàm và gửi kết quả lại cho lời gọi hàm.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CC74E3-9FE2-A55A-5C71-DD36D794069D}"/>
              </a:ext>
            </a:extLst>
          </p:cNvPr>
          <p:cNvSpPr/>
          <p:nvPr/>
        </p:nvSpPr>
        <p:spPr>
          <a:xfrm>
            <a:off x="362918" y="7856269"/>
            <a:ext cx="69757" cy="17238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Graphic 36" descr="Computer with solid fill">
            <a:extLst>
              <a:ext uri="{FF2B5EF4-FFF2-40B4-BE49-F238E27FC236}">
                <a16:creationId xmlns:a16="http://schemas.microsoft.com/office/drawing/2014/main" id="{CDA047DF-F616-C235-8BAE-4BA8633084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9411" y="7383736"/>
            <a:ext cx="441734" cy="569172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DEE00A6-5F9B-71D9-2012-02F3B1B6DC74}"/>
              </a:ext>
            </a:extLst>
          </p:cNvPr>
          <p:cNvCxnSpPr/>
          <p:nvPr/>
        </p:nvCxnSpPr>
        <p:spPr>
          <a:xfrm>
            <a:off x="3572057" y="6771213"/>
            <a:ext cx="0" cy="22088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1" name="Graphic 40" descr="Books on shelf with solid fill">
            <a:extLst>
              <a:ext uri="{FF2B5EF4-FFF2-40B4-BE49-F238E27FC236}">
                <a16:creationId xmlns:a16="http://schemas.microsoft.com/office/drawing/2014/main" id="{058FBB85-7CFD-A043-17AA-59C8557206E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4199" y="-89515"/>
            <a:ext cx="1350574" cy="1350574"/>
          </a:xfrm>
          <a:prstGeom prst="rect">
            <a:avLst/>
          </a:prstGeom>
        </p:spPr>
      </p:pic>
      <p:sp>
        <p:nvSpPr>
          <p:cNvPr id="42" name="Rectangle 5">
            <a:extLst>
              <a:ext uri="{FF2B5EF4-FFF2-40B4-BE49-F238E27FC236}">
                <a16:creationId xmlns:a16="http://schemas.microsoft.com/office/drawing/2014/main" id="{2F49B829-044E-217C-0E6C-A983E52F5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163" y="9039955"/>
            <a:ext cx="5861075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CHUYỂN ĐỔI KIỂU DỮ LIỆU (TYPE CONVERSIONS)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Tự động (Implicit)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Khi tính toán số nguyên (int) với số thực (float), kết quả tự động chuyển thành float.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Ví dụ: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 + 2.0 -&gt; 3.0.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Chủ động (Explicit)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Sử dụng các hàm có sẵn để ép kiểu: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int():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Chuyển về số nguyên.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Lưu ý: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Sẽ báo lỗi nếu chuỗi không chứa ký tự số (VD: int('hello') -&gt; Lỗi).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float():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Chuyển về số thực.</a:t>
            </a:r>
            <a:r>
              <a:rPr kumimoji="0" lang="en-US" altLang="en-US" sz="13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Ví dụ: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float(99) -&gt; 99.0 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BAA229A-2429-9F18-8D29-B7FF3E60A714}"/>
              </a:ext>
            </a:extLst>
          </p:cNvPr>
          <p:cNvCxnSpPr/>
          <p:nvPr/>
        </p:nvCxnSpPr>
        <p:spPr>
          <a:xfrm flipV="1">
            <a:off x="849406" y="9022977"/>
            <a:ext cx="5041141" cy="339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6" name="Graphic 45" descr="Internet with solid fill">
            <a:extLst>
              <a:ext uri="{FF2B5EF4-FFF2-40B4-BE49-F238E27FC236}">
                <a16:creationId xmlns:a16="http://schemas.microsoft.com/office/drawing/2014/main" id="{AB2342C0-5D91-FCE4-F08E-63855F463FD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5976" y="9505014"/>
            <a:ext cx="472355" cy="472355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6D25693-2E6C-0C6B-3655-92FF50287D3A}"/>
              </a:ext>
            </a:extLst>
          </p:cNvPr>
          <p:cNvCxnSpPr>
            <a:cxnSpLocks/>
          </p:cNvCxnSpPr>
          <p:nvPr/>
        </p:nvCxnSpPr>
        <p:spPr>
          <a:xfrm>
            <a:off x="849406" y="10978660"/>
            <a:ext cx="50411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ectangle 6">
            <a:extLst>
              <a:ext uri="{FF2B5EF4-FFF2-40B4-BE49-F238E27FC236}">
                <a16:creationId xmlns:a16="http://schemas.microsoft.com/office/drawing/2014/main" id="{0BA76A59-7581-0D98-E7A2-80024A006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97" y="10978660"/>
            <a:ext cx="5878094" cy="1092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QUY TẮC ĐẶT TÊN &amp; SỬ DỤNG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Coi tên các hàm có sẵn (built-in) là "từ khóa dành riêng" mới, tránh đặt tên biến trùng với chúng.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Nếu mã quá dài hoặc phức tạp, hãy chia nhỏ thành các hàm con.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Graphic 51" descr="Closed book with solid fill">
            <a:extLst>
              <a:ext uri="{FF2B5EF4-FFF2-40B4-BE49-F238E27FC236}">
                <a16:creationId xmlns:a16="http://schemas.microsoft.com/office/drawing/2014/main" id="{29DD7776-2795-7BB2-0320-8B4566750F4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2024" y="10882407"/>
            <a:ext cx="600257" cy="458868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620BAD85-D96A-0C8D-6EDA-C2DFBD47B704}"/>
              </a:ext>
            </a:extLst>
          </p:cNvPr>
          <p:cNvSpPr/>
          <p:nvPr/>
        </p:nvSpPr>
        <p:spPr>
          <a:xfrm flipH="1">
            <a:off x="381372" y="11341275"/>
            <a:ext cx="67003" cy="78096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L-Shape 53">
            <a:extLst>
              <a:ext uri="{FF2B5EF4-FFF2-40B4-BE49-F238E27FC236}">
                <a16:creationId xmlns:a16="http://schemas.microsoft.com/office/drawing/2014/main" id="{EE65F84C-74E6-42B4-16DA-4652504E08D6}"/>
              </a:ext>
            </a:extLst>
          </p:cNvPr>
          <p:cNvSpPr/>
          <p:nvPr/>
        </p:nvSpPr>
        <p:spPr>
          <a:xfrm rot="10800000" flipV="1">
            <a:off x="5992812" y="11644577"/>
            <a:ext cx="795127" cy="477659"/>
          </a:xfrm>
          <a:prstGeom prst="corner">
            <a:avLst>
              <a:gd name="adj1" fmla="val 29394"/>
              <a:gd name="adj2" fmla="val 29541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891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</TotalTime>
  <Words>600</Words>
  <Application>Microsoft Office PowerPoint</Application>
  <PresentationFormat>Widescreen</PresentationFormat>
  <Paragraphs>52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Wingdings</vt:lpstr>
      <vt:lpstr>Office Theme</vt:lpstr>
      <vt:lpstr> CHEAT SHEET CHƯƠNG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Tuấn Anh</dc:creator>
  <cp:lastModifiedBy>Tuấn Anh</cp:lastModifiedBy>
  <cp:revision>3</cp:revision>
  <dcterms:created xsi:type="dcterms:W3CDTF">2025-11-23T07:28:42Z</dcterms:created>
  <dcterms:modified xsi:type="dcterms:W3CDTF">2025-11-24T08:57:55Z</dcterms:modified>
</cp:coreProperties>
</file>